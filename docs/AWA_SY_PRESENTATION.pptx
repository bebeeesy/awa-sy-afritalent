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06" y="67"/>
      </p:cViewPr>
      <p:guideLst>
        <p:guide orient="horz" pos="2160"/>
        <p:guide pos="286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1371600"/>
            <a:ext cx="5029200" cy="5029200"/>
          </a:xfrm>
          <a:prstGeom prst="ellipse">
            <a:avLst/>
          </a:prstGeom>
          <a:solidFill>
            <a:srgbClr val="00C2CB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5029200"/>
            <a:ext cx="1371600" cy="1371600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65760"/>
            <a:ext cx="237744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182633"/>
            <a:ext cx="112772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 i="0">
                <a:solidFill>
                  <a:srgbClr val="FFFFFF"/>
                </a:solidFill>
                <a:latin typeface="Georgia"/>
              </a:defRPr>
            </a:pPr>
            <a:r>
              <a:rPr dirty="0" err="1"/>
              <a:t>Projet</a:t>
            </a:r>
            <a:r>
              <a:rPr dirty="0"/>
              <a:t> Fil Rouge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657600"/>
            <a:ext cx="4876495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i="0">
                <a:solidFill>
                  <a:srgbClr val="E8F8F9"/>
                </a:solidFill>
                <a:latin typeface="Georgia"/>
              </a:defRPr>
            </a:pPr>
            <a:r>
              <a:t>Plateforme de mise en relation entre freelances africains et clients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4846320"/>
            <a:ext cx="2286000" cy="502920"/>
          </a:xfrm>
          <a:prstGeom prst="round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0" y="489204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50D18"/>
                </a:solidFill>
                <a:latin typeface="Georgia"/>
              </a:defRPr>
            </a:pPr>
            <a:r>
              <a:t>Soutenance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899AA"/>
                </a:solidFill>
                <a:latin typeface="Georgia"/>
              </a:defRPr>
            </a:pPr>
            <a:r>
              <a:t>Présenté par Awa Sy  •  L1 Web - ISI  •  Juin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C2CB"/>
                </a:solidFill>
              </a:defRPr>
            </a:pPr>
            <a:r>
              <a:t>Plan de la 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2CB"/>
                </a:solidFill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3063239"/>
            <a:ext cx="54864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94560" y="25146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Contexte &amp; objectifs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2CB"/>
                </a:solidFill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3703320"/>
            <a:ext cx="54864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94560" y="315468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Identité visuelle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7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2CB"/>
                </a:solidFill>
              </a:defRPr>
            </a:pPr>
            <a: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4343399"/>
            <a:ext cx="54864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94560" y="3794759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Architecture du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8055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2CB"/>
                </a:solidFill>
              </a:defRPr>
            </a:pPr>
            <a: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4983479"/>
            <a:ext cx="54864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94560" y="4514352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Technologies &amp; points techniques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2CB"/>
                </a:solidFill>
              </a:defRPr>
            </a:pPr>
            <a: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063239"/>
            <a:ext cx="54864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25146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GitHub &amp; versioning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2CB"/>
                </a:solidFill>
              </a:defRPr>
            </a:pPr>
            <a:r>
              <a:t>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703320"/>
            <a:ext cx="54864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0" y="315468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Difficultés &amp; solutions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7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2CB"/>
                </a:solidFill>
              </a:defRPr>
            </a:pPr>
            <a:r>
              <a:t>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343399"/>
            <a:ext cx="54864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0" y="3794759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Conclusion &amp; perspectives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0208" y="2377440"/>
            <a:ext cx="36576" cy="384048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C2CB"/>
                </a:solidFill>
              </a:defRPr>
            </a:pPr>
            <a:r>
              <a:t>Contexte &amp; objectifs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3291840" cy="347472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C2CB"/>
                </a:solidFill>
              </a:defRPr>
            </a:pPr>
            <a:r>
              <a:t>Contexte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3840480"/>
            <a:ext cx="146304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4262" y="4114800"/>
            <a:ext cx="284635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8F8F9"/>
                </a:solidFill>
              </a:defRPr>
            </a:pPr>
            <a:r>
              <a:rPr dirty="0"/>
              <a:t>Le </a:t>
            </a:r>
            <a:r>
              <a:rPr dirty="0" err="1"/>
              <a:t>marché</a:t>
            </a:r>
            <a:r>
              <a:rPr dirty="0"/>
              <a:t> du freelance tech</a:t>
            </a:r>
          </a:p>
          <a:p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en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Afrique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est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en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pleine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croissance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explosive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291840" cy="347472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256032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918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C2CB"/>
                </a:solidFill>
              </a:defRPr>
            </a:pPr>
            <a:r>
              <a:t>Objectif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3840480"/>
            <a:ext cx="146304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519" y="4114800"/>
            <a:ext cx="192103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8F8F9"/>
                </a:solidFill>
              </a:defRPr>
            </a:pPr>
            <a:r>
              <a:rPr dirty="0" err="1"/>
              <a:t>Créer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vitrine</a:t>
            </a:r>
          </a:p>
          <a:p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convaincante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pour</a:t>
            </a:r>
          </a:p>
          <a:p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AfriTalent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46720" y="2286000"/>
            <a:ext cx="3291840" cy="347472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256032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918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C2CB"/>
                </a:solidFill>
              </a:defRPr>
            </a:pPr>
            <a:r>
              <a:t>Public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3840480"/>
            <a:ext cx="146304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9011" y="4114800"/>
            <a:ext cx="262725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8F8F9"/>
                </a:solidFill>
              </a:defRPr>
            </a:pPr>
            <a:r>
              <a:rPr dirty="0"/>
              <a:t>Freelances tech </a:t>
            </a:r>
            <a:r>
              <a:rPr dirty="0" err="1"/>
              <a:t>africains</a:t>
            </a:r>
            <a:endParaRPr dirty="0"/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et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entreprises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internationales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30854" y="365760"/>
            <a:ext cx="392998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C2CB"/>
                </a:solidFill>
              </a:defRPr>
            </a:pPr>
            <a:r>
              <a:rPr lang="fr-FR" dirty="0"/>
              <a:t>I</a:t>
            </a:r>
            <a:r>
              <a:rPr dirty="0" err="1"/>
              <a:t>dentité</a:t>
            </a:r>
            <a:r>
              <a:rPr dirty="0"/>
              <a:t> </a:t>
            </a:r>
            <a:r>
              <a:rPr dirty="0" err="1"/>
              <a:t>visuelle</a:t>
            </a:r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548640" y="2560320"/>
            <a:ext cx="1280160" cy="1280160"/>
          </a:xfrm>
          <a:prstGeom prst="ellipse">
            <a:avLst/>
          </a:prstGeom>
          <a:solidFill>
            <a:srgbClr val="050D1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506" y="4023360"/>
            <a:ext cx="1518429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 dirty="0"/>
              <a:t>#050D18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Fond principal</a:t>
            </a:r>
          </a:p>
        </p:txBody>
      </p:sp>
      <p:sp>
        <p:nvSpPr>
          <p:cNvPr id="5" name="Oval 4"/>
          <p:cNvSpPr/>
          <p:nvPr/>
        </p:nvSpPr>
        <p:spPr>
          <a:xfrm>
            <a:off x="2743200" y="2560320"/>
            <a:ext cx="1280160" cy="1280160"/>
          </a:xfrm>
          <a:prstGeom prst="ellipse">
            <a:avLst/>
          </a:prstGeom>
          <a:solidFill>
            <a:srgbClr val="00C2C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31738" y="4023360"/>
            <a:ext cx="1903085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 dirty="0"/>
              <a:t>#00C2CB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Couleur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principale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937759" y="2560320"/>
            <a:ext cx="1280160" cy="1280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5898" y="4023360"/>
            <a:ext cx="1543884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 dirty="0"/>
              <a:t>#FFFFFF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Texte principal</a:t>
            </a:r>
          </a:p>
        </p:txBody>
      </p:sp>
      <p:sp>
        <p:nvSpPr>
          <p:cNvPr id="9" name="Oval 8"/>
          <p:cNvSpPr/>
          <p:nvPr/>
        </p:nvSpPr>
        <p:spPr>
          <a:xfrm>
            <a:off x="7132319" y="2560320"/>
            <a:ext cx="1280160" cy="1280160"/>
          </a:xfrm>
          <a:prstGeom prst="ellipse">
            <a:avLst/>
          </a:prstGeom>
          <a:solidFill>
            <a:srgbClr val="8899A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95524" y="4023360"/>
            <a:ext cx="1753750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 dirty="0"/>
              <a:t>#8899AA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Texte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secondaire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9326880" y="2560320"/>
            <a:ext cx="1280160" cy="128016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30984" y="4023360"/>
            <a:ext cx="1271951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 dirty="0"/>
              <a:t>#0A1628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Fond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cartes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8F8F9"/>
                </a:solidFill>
              </a:defRPr>
            </a:pPr>
            <a:r>
              <a:t>📝 Polices : Georgia (titres)  •  Inter (corps)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C2CB"/>
                </a:solidFill>
              </a:defRPr>
            </a:pPr>
            <a:r>
              <a:t>Architecture du site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377440"/>
            <a:ext cx="2011680" cy="2926080"/>
          </a:xfrm>
          <a:prstGeom prst="roundRect">
            <a:avLst/>
          </a:prstGeom>
          <a:solidFill>
            <a:srgbClr val="0A1628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5603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32918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C2CB"/>
                </a:solidFill>
              </a:defRPr>
            </a:pPr>
            <a:r>
              <a:t>Accueil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19" y="3840480"/>
            <a:ext cx="91440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1794" y="4114800"/>
            <a:ext cx="25082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8F8F9"/>
                </a:solidFill>
              </a:defRPr>
            </a:pPr>
            <a:r>
              <a:rPr dirty="0"/>
              <a:t>Hero, </a:t>
            </a:r>
            <a:r>
              <a:rPr dirty="0" err="1"/>
              <a:t>statistiques</a:t>
            </a:r>
            <a:r>
              <a:rPr dirty="0"/>
              <a:t>,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Bento Grid,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témoignages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34639" y="2377440"/>
            <a:ext cx="2011680" cy="2926080"/>
          </a:xfrm>
          <a:prstGeom prst="roundRect">
            <a:avLst/>
          </a:prstGeom>
          <a:solidFill>
            <a:srgbClr val="0A1628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399" y="25603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👨‍💻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32918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C2CB"/>
                </a:solidFill>
              </a:defRPr>
            </a:pPr>
            <a:r>
              <a:t>Freelances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79" y="3840480"/>
            <a:ext cx="91440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23909" y="4114800"/>
            <a:ext cx="163313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8F8F9"/>
                </a:solidFill>
              </a:defRPr>
            </a:pPr>
            <a:r>
              <a:rPr dirty="0" err="1"/>
              <a:t>Filtrage</a:t>
            </a:r>
            <a:r>
              <a:rPr dirty="0"/>
              <a:t> </a:t>
            </a:r>
            <a:r>
              <a:rPr dirty="0" err="1"/>
              <a:t>dynamique</a:t>
            </a:r>
            <a:r>
              <a:rPr dirty="0"/>
              <a:t>,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grille de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profils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0" y="2377440"/>
            <a:ext cx="2011680" cy="2926080"/>
          </a:xfrm>
          <a:prstGeom prst="roundRect">
            <a:avLst/>
          </a:prstGeom>
          <a:solidFill>
            <a:srgbClr val="0A1628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0" y="25603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2918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C2CB"/>
                </a:solidFill>
              </a:defRPr>
            </a:pPr>
            <a:r>
              <a:t>Tarifs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3840480"/>
            <a:ext cx="91440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4852" y="4114800"/>
            <a:ext cx="160037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8F8F9"/>
                </a:solidFill>
              </a:defRPr>
            </a:pPr>
            <a:r>
              <a:rPr dirty="0"/>
              <a:t>3 plans </a:t>
            </a:r>
            <a:r>
              <a:rPr dirty="0" err="1"/>
              <a:t>tarifaires</a:t>
            </a:r>
            <a:r>
              <a:rPr dirty="0"/>
              <a:t>,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FAQ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accordéon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223759" y="2377440"/>
            <a:ext cx="2011680" cy="2926080"/>
          </a:xfrm>
          <a:prstGeom prst="roundRect">
            <a:avLst/>
          </a:prstGeom>
          <a:solidFill>
            <a:srgbClr val="0A1628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19" y="25603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9" y="32918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C2CB"/>
                </a:solidFill>
              </a:defRPr>
            </a:pPr>
            <a:r>
              <a:t>À propos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840480"/>
            <a:ext cx="91440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1391" y="4114800"/>
            <a:ext cx="165641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8F8F9"/>
                </a:solidFill>
              </a:defRPr>
            </a:pPr>
            <a:r>
              <a:rPr dirty="0"/>
              <a:t>Histoire, équipe,</a:t>
            </a:r>
          </a:p>
          <a:p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valeurs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, chiffres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19" y="2377440"/>
            <a:ext cx="2011680" cy="2926080"/>
          </a:xfrm>
          <a:prstGeom prst="roundRect">
            <a:avLst/>
          </a:prstGeom>
          <a:solidFill>
            <a:srgbClr val="0A1628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0" y="25603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32918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C2CB"/>
                </a:solidFill>
              </a:defRPr>
            </a:pPr>
            <a:r>
              <a:t>Contact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59" y="3840480"/>
            <a:ext cx="91440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26066" y="4114800"/>
            <a:ext cx="199618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8F8F9"/>
                </a:solidFill>
              </a:defRPr>
            </a:pPr>
            <a:r>
              <a:rPr dirty="0" err="1"/>
              <a:t>Formulaire</a:t>
            </a:r>
            <a:r>
              <a:rPr dirty="0"/>
              <a:t> </a:t>
            </a:r>
            <a:r>
              <a:rPr dirty="0" err="1"/>
              <a:t>validé</a:t>
            </a:r>
            <a:r>
              <a:rPr dirty="0"/>
              <a:t>,</a:t>
            </a:r>
          </a:p>
          <a:p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coordonnées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, carte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C2CB"/>
                </a:solidFill>
              </a:defRPr>
            </a:pPr>
            <a:r>
              <a:t>Technologies &amp; CSS avancé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377440"/>
            <a:ext cx="3474720" cy="320040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4094" y="2651760"/>
            <a:ext cx="314958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2CB"/>
                </a:solidFill>
              </a:defRPr>
            </a:pPr>
            <a:r>
              <a:rPr dirty="0"/>
              <a:t>🎨</a:t>
            </a:r>
            <a:r>
              <a:rPr lang="fr-FR" dirty="0"/>
              <a:t>Interface Utilisateur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1645920" y="3383280"/>
            <a:ext cx="164592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0681" y="3657600"/>
            <a:ext cx="2996398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E8F8F9"/>
                </a:solidFill>
              </a:defRPr>
            </a:pPr>
            <a:r>
              <a:rPr dirty="0"/>
              <a:t>HTML5 - Structure </a:t>
            </a:r>
            <a:r>
              <a:rPr dirty="0" err="1"/>
              <a:t>sémantique</a:t>
            </a:r>
            <a:endParaRPr dirty="0"/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CSS3 - Variables, Flexbox, Grid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Bootstrap 5 -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Composants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0" y="2377440"/>
            <a:ext cx="3474720" cy="320040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2CB"/>
                </a:solidFill>
              </a:defRPr>
            </a:pPr>
            <a:r>
              <a:t>⚡ Interactivité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3383280"/>
            <a:ext cx="164592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45222" y="3657600"/>
            <a:ext cx="2162515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E8F8F9"/>
                </a:solidFill>
              </a:defRPr>
            </a:pPr>
            <a:r>
              <a:rPr dirty="0"/>
              <a:t>JavaScript Vanilla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DOM,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événements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IntersectionObserver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46720" y="2377440"/>
            <a:ext cx="3474720" cy="320040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6517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2CB"/>
                </a:solidFill>
              </a:defRPr>
            </a:pPr>
            <a:r>
              <a:t>🔧 Outils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3383280"/>
            <a:ext cx="1645920" cy="2743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14707" y="3657600"/>
            <a:ext cx="1738746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E8F8F9"/>
                </a:solidFill>
              </a:defRPr>
            </a:pPr>
            <a:r>
              <a:rPr dirty="0"/>
              <a:t>Git &amp; GitHub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Versioning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GitHub Pages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C2CB"/>
                </a:solidFill>
              </a:defRPr>
            </a:pPr>
            <a:r>
              <a:t>JavaScript - 8 fonctionnalités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10698480" cy="3840480"/>
          </a:xfrm>
          <a:prstGeom prst="roundRect">
            <a:avLst/>
          </a:prstGeom>
          <a:solidFill>
            <a:srgbClr val="0A1628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C2CB"/>
                </a:solidFill>
              </a:defRPr>
            </a:pPr>
            <a:r>
              <a:t>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0604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F8F9"/>
                </a:solidFill>
              </a:defRPr>
            </a:pPr>
            <a:r>
              <a:t>1. Mode clair/sombre avec localStorage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39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C2CB"/>
                </a:solidFill>
              </a:defRPr>
            </a:pPr>
            <a: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4612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F8F9"/>
                </a:solidFill>
              </a:defRPr>
            </a:pPr>
            <a:r>
              <a:t>2. Compteurs animés au scroll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C2CB"/>
                </a:solidFill>
              </a:defRPr>
            </a:pPr>
            <a: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8862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F8F9"/>
                </a:solidFill>
              </a:defRPr>
            </a:pPr>
            <a:r>
              <a:t>3. Filtrage dynamique des freelances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C2CB"/>
                </a:solidFill>
              </a:defRPr>
            </a:pPr>
            <a: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9349" y="452628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F8F9"/>
                </a:solidFill>
              </a:defRPr>
            </a:pPr>
            <a:r>
              <a:rPr dirty="0"/>
              <a:t>4. Validation de </a:t>
            </a:r>
            <a:r>
              <a:rPr dirty="0" err="1"/>
              <a:t>formulaire</a:t>
            </a:r>
            <a:r>
              <a:rPr dirty="0"/>
              <a:t> (email, 20 </a:t>
            </a:r>
            <a:r>
              <a:rPr dirty="0" err="1"/>
              <a:t>caractères</a:t>
            </a:r>
            <a:r>
              <a:rPr dirty="0"/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0676" y="26517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C2CB"/>
                </a:solidFill>
              </a:defRPr>
            </a:pPr>
            <a:r>
              <a:rPr dirty="0"/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7209" y="260604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F8F9"/>
                </a:solidFill>
              </a:defRPr>
            </a:pPr>
            <a:r>
              <a:rPr dirty="0"/>
              <a:t>5. Navbar </a:t>
            </a:r>
            <a:r>
              <a:rPr dirty="0" err="1"/>
              <a:t>dynamique</a:t>
            </a:r>
            <a:r>
              <a:rPr dirty="0"/>
              <a:t> au scroll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0613" y="3291839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C2CB"/>
                </a:solidFill>
              </a:defRPr>
            </a:pPr>
            <a:r>
              <a:rPr dirty="0"/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6966" y="324612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F8F9"/>
                </a:solidFill>
              </a:defRPr>
            </a:pPr>
            <a:r>
              <a:t>6. Bouton retour en haut (smooth scroll)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0493" y="39319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C2CB"/>
                </a:solidFill>
              </a:defRPr>
            </a:pPr>
            <a:r>
              <a:rPr dirty="0"/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7206" y="38862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F8F9"/>
                </a:solidFill>
              </a:defRPr>
            </a:pPr>
            <a:r>
              <a:rPr dirty="0"/>
              <a:t>7. Animations fade-in au scroll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5720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C2CB"/>
                </a:solidFill>
              </a:defRPr>
            </a:pPr>
            <a: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6960" y="4434840"/>
            <a:ext cx="3694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F8F9"/>
                </a:solidFill>
              </a:defRPr>
            </a:pPr>
            <a:r>
              <a:rPr dirty="0"/>
              <a:t>8. </a:t>
            </a:r>
            <a:r>
              <a:rPr dirty="0" err="1"/>
              <a:t>Année</a:t>
            </a:r>
            <a:r>
              <a:rPr dirty="0"/>
              <a:t> </a:t>
            </a:r>
            <a:r>
              <a:rPr dirty="0" err="1"/>
              <a:t>dynamique</a:t>
            </a:r>
            <a:r>
              <a:rPr dirty="0"/>
              <a:t> dans le footer</a:t>
            </a: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4D576FA6-64D6-0052-28D2-1E8872E59801}"/>
              </a:ext>
            </a:extLst>
          </p:cNvPr>
          <p:cNvSpPr txBox="1"/>
          <p:nvPr/>
        </p:nvSpPr>
        <p:spPr>
          <a:xfrm flipH="1">
            <a:off x="6571081" y="4525620"/>
            <a:ext cx="1875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0C2CB"/>
                </a:solidFill>
              </a:defRPr>
            </a:pPr>
            <a:r>
              <a:t>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09574" y="365760"/>
            <a:ext cx="697255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C2CB"/>
                </a:solidFill>
              </a:defRPr>
            </a:pPr>
            <a:r>
              <a:rPr dirty="0"/>
              <a:t>GitHub &amp;</a:t>
            </a:r>
            <a:r>
              <a:rPr lang="fr-FR" dirty="0"/>
              <a:t> Gestion de </a:t>
            </a:r>
            <a:r>
              <a:rPr dirty="0"/>
              <a:t> version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377440"/>
            <a:ext cx="2926080" cy="256032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C2CB"/>
                </a:solidFill>
              </a:defRPr>
            </a:pPr>
            <a:r>
              <a:t>📦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8F8F9"/>
                </a:solidFill>
              </a:defRPr>
            </a:pPr>
            <a:r>
              <a:t>Commits</a:t>
            </a:r>
          </a:p>
          <a:p>
            <a:r>
              <a:t>réguliers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377440"/>
            <a:ext cx="2926080" cy="256032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265176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C2CB"/>
                </a:solidFill>
              </a:defRPr>
            </a:pPr>
            <a:r>
              <a:t>🌐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84048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8F8F9"/>
                </a:solidFill>
              </a:defRPr>
            </a:pPr>
            <a:r>
              <a:t>Dépôt</a:t>
            </a:r>
          </a:p>
          <a:p>
            <a:r>
              <a:t>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377440"/>
            <a:ext cx="2926080" cy="256032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265176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C2CB"/>
                </a:solidFill>
              </a:defRPr>
            </a:pPr>
            <a:r>
              <a:t>🚀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84048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8F8F9"/>
                </a:solidFill>
              </a:defRPr>
            </a:pPr>
            <a:r>
              <a:t>Site</a:t>
            </a:r>
          </a:p>
          <a:p>
            <a:r>
              <a:t>déployé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C2CB"/>
                </a:solidFill>
              </a:defRPr>
            </a:pPr>
            <a:r>
              <a:t>🔗 https://bebeeesy.github.io/AWA-SY-AfriTalent/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139" y="3657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C2CB"/>
                </a:solidFill>
              </a:defRPr>
            </a:pPr>
            <a:r>
              <a:t>Difficultés &amp; 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1097280" cy="45720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236904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9696"/>
                </a:solidFill>
              </a:defRPr>
            </a:pPr>
            <a:r>
              <a:rPr dirty="0"/>
              <a:t>Styles inline </a:t>
            </a:r>
            <a:r>
              <a:rPr dirty="0" err="1"/>
              <a:t>bloquaient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1097280" cy="457200"/>
          </a:xfrm>
          <a:prstGeom prst="round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2331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50D18"/>
                </a:solidFill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331720"/>
            <a:ext cx="26298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C2CB"/>
                </a:solidFill>
              </a:defRPr>
            </a:pPr>
            <a:r>
              <a:rPr dirty="0" err="1"/>
              <a:t>Supprimer</a:t>
            </a:r>
            <a:r>
              <a:rPr dirty="0"/>
              <a:t> les styles inline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97280" cy="45720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Problème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520440"/>
            <a:ext cx="166924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9696"/>
                </a:solidFill>
              </a:defRPr>
            </a:pPr>
            <a:r>
              <a:rPr dirty="0"/>
              <a:t> </a:t>
            </a:r>
            <a:r>
              <a:rPr dirty="0" err="1"/>
              <a:t>Erreur</a:t>
            </a:r>
            <a:r>
              <a:rPr dirty="0"/>
              <a:t> h1 → h3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474720"/>
            <a:ext cx="1097280" cy="457200"/>
          </a:xfrm>
          <a:prstGeom prst="round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5204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50D18"/>
                </a:solidFill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520440"/>
            <a:ext cx="28528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C2CB"/>
                </a:solidFill>
              </a:defRPr>
            </a:pPr>
            <a:r>
              <a:rPr dirty="0"/>
              <a:t> </a:t>
            </a:r>
            <a:r>
              <a:rPr dirty="0" err="1"/>
              <a:t>Remplacer</a:t>
            </a:r>
            <a:r>
              <a:rPr dirty="0"/>
              <a:t> &lt;h3&gt; par &lt;span&gt;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1097280" cy="45720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Problème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09160"/>
            <a:ext cx="30744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9696"/>
                </a:solidFill>
              </a:defRPr>
            </a:pPr>
            <a:r>
              <a:rPr dirty="0"/>
              <a:t> </a:t>
            </a:r>
            <a:r>
              <a:rPr dirty="0" err="1"/>
              <a:t>Icônes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blanc</a:t>
            </a:r>
            <a:r>
              <a:rPr dirty="0"/>
              <a:t> sur fond </a:t>
            </a:r>
            <a:r>
              <a:rPr dirty="0" err="1"/>
              <a:t>blanc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6400800" y="4663440"/>
            <a:ext cx="1097280" cy="457200"/>
          </a:xfrm>
          <a:prstGeom prst="round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709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50D18"/>
                </a:solidFill>
              </a:defRPr>
            </a:pPr>
            <a:r>
              <a:t>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09160"/>
            <a:ext cx="26120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C2CB"/>
                </a:solidFill>
              </a:defRPr>
            </a:pPr>
            <a:r>
              <a:rPr dirty="0"/>
              <a:t> </a:t>
            </a:r>
            <a:r>
              <a:rPr dirty="0" err="1"/>
              <a:t>Ajouter</a:t>
            </a:r>
            <a:r>
              <a:rPr dirty="0"/>
              <a:t> la </a:t>
            </a:r>
            <a:r>
              <a:rPr dirty="0" err="1"/>
              <a:t>classe</a:t>
            </a:r>
            <a:r>
              <a:rPr dirty="0"/>
              <a:t> text-info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C2CB"/>
                </a:solidFill>
              </a:defRPr>
            </a:pPr>
            <a:r>
              <a:t>Bilan &amp; perspectives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11277295" cy="3200400"/>
          </a:xfrm>
          <a:prstGeom prst="roundRect">
            <a:avLst/>
          </a:prstGeom>
          <a:solidFill>
            <a:srgbClr val="0A1628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415337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99AA"/>
                </a:solidFill>
              </a:defRPr>
            </a:pPr>
            <a:r>
              <a:t>📸 Page d'accueil - Mode clair / Mode sombre</a:t>
            </a:r>
          </a:p>
        </p:txBody>
      </p:sp>
      <p:pic>
        <p:nvPicPr>
          <p:cNvPr id="5" name="Picture 4" descr="screenshot-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5029200" cy="2369225"/>
          </a:xfrm>
          <a:prstGeom prst="rect">
            <a:avLst/>
          </a:prstGeom>
        </p:spPr>
      </p:pic>
      <p:pic>
        <p:nvPicPr>
          <p:cNvPr id="6" name="Picture 5" descr="screenshot-somb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60320"/>
            <a:ext cx="5029200" cy="24085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035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C2CB"/>
                </a:solidFill>
              </a:defRPr>
            </a:pPr>
            <a:r>
              <a:t>✨ Merci pour votre attention ! 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6766560"/>
            <a:ext cx="4876495" cy="36576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374</Words>
  <Application>Microsoft Office PowerPoint</Application>
  <PresentationFormat>Grand écran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Inspiredu</cp:lastModifiedBy>
  <cp:revision>9</cp:revision>
  <dcterms:created xsi:type="dcterms:W3CDTF">2013-01-27T09:14:16Z</dcterms:created>
  <dcterms:modified xsi:type="dcterms:W3CDTF">2026-07-03T12:17:36Z</dcterms:modified>
  <cp:category/>
</cp:coreProperties>
</file>