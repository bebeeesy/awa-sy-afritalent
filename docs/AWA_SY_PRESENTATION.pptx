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7" d="100"/>
          <a:sy n="77" d="100"/>
        </p:scale>
        <p:origin x="806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D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772400" y="-1371600"/>
            <a:ext cx="5029200" cy="5029200"/>
          </a:xfrm>
          <a:prstGeom prst="ellipse">
            <a:avLst/>
          </a:prstGeom>
          <a:solidFill>
            <a:srgbClr val="00C2CB"/>
          </a:solidFill>
          <a:ln w="19050">
            <a:solidFill>
              <a:srgbClr val="00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31520" y="5029200"/>
            <a:ext cx="1371600" cy="1371600"/>
          </a:xfrm>
          <a:prstGeom prst="ellipse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65760"/>
            <a:ext cx="2377440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2182633"/>
            <a:ext cx="11277295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600" b="1" i="0">
                <a:solidFill>
                  <a:srgbClr val="FFFFFF"/>
                </a:solidFill>
                <a:latin typeface="Georgia"/>
              </a:defRPr>
            </a:pPr>
            <a:r>
              <a:rPr dirty="0" err="1"/>
              <a:t>Projet</a:t>
            </a:r>
            <a:r>
              <a:rPr dirty="0"/>
              <a:t> Fil Rouge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3657600"/>
            <a:ext cx="4876495" cy="54864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384048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i="0">
                <a:solidFill>
                  <a:srgbClr val="E8F8F9"/>
                </a:solidFill>
                <a:latin typeface="Georgia"/>
              </a:defRPr>
            </a:pPr>
            <a:r>
              <a:t>Plateforme de mise en relation entre freelances africains et clients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4846320"/>
            <a:ext cx="2286000" cy="502920"/>
          </a:xfrm>
          <a:prstGeom prst="round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120640" y="4892040"/>
            <a:ext cx="1920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50D18"/>
                </a:solidFill>
                <a:latin typeface="Georgia"/>
              </a:defRPr>
            </a:pPr>
            <a:r>
              <a:t>Soutenance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8899AA"/>
                </a:solidFill>
                <a:latin typeface="Georgia"/>
              </a:defRPr>
            </a:pPr>
            <a:r>
              <a:t>Présenté par Awa Sy  •  L1 Web - ISI  •  Juin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D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C2CB"/>
                </a:solidFill>
              </a:defRPr>
            </a:pPr>
            <a:r>
              <a:t>Plan de la présentation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C2CB"/>
                </a:solidFill>
              </a:defRPr>
            </a:pPr>
            <a: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463040" y="3063239"/>
            <a:ext cx="548640" cy="2743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94560" y="25146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Contexte &amp; objectifs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0040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C2CB"/>
                </a:solidFill>
              </a:defRPr>
            </a:pPr>
            <a: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3703320"/>
            <a:ext cx="548640" cy="2743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94560" y="315468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Identité visuelle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840479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C2CB"/>
                </a:solidFill>
              </a:defRPr>
            </a:pPr>
            <a: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4343399"/>
            <a:ext cx="548640" cy="2743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194560" y="3794759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Architecture du 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480559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C2CB"/>
                </a:solidFill>
              </a:defRPr>
            </a:pPr>
            <a: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63040" y="4983479"/>
            <a:ext cx="548640" cy="2743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194560" y="443484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Technologies &amp; points techniques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56032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C2CB"/>
                </a:solidFill>
              </a:defRPr>
            </a:pPr>
            <a: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063239"/>
            <a:ext cx="548640" cy="2743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23760" y="25146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GitHub &amp; versioning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20040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C2CB"/>
                </a:solidFill>
              </a:defRPr>
            </a:pPr>
            <a:r>
              <a:t>06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703320"/>
            <a:ext cx="548640" cy="2743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223760" y="315468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Difficultés &amp; solutions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840479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C2CB"/>
                </a:solidFill>
              </a:defRPr>
            </a:pPr>
            <a:r>
              <a:t>07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4343399"/>
            <a:ext cx="548640" cy="2743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223760" y="3794759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Conclusion &amp; perspectives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52160" y="2377440"/>
            <a:ext cx="36576" cy="3840480"/>
          </a:xfrm>
          <a:prstGeom prst="rect">
            <a:avLst/>
          </a:prstGeom>
          <a:solidFill>
            <a:srgbClr val="889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D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C2CB"/>
                </a:solidFill>
              </a:defRPr>
            </a:pPr>
            <a:r>
              <a:t>Contexte &amp; objectifs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286000"/>
            <a:ext cx="3291840" cy="3474720"/>
          </a:xfrm>
          <a:prstGeom prst="roundRect">
            <a:avLst/>
          </a:prstGeom>
          <a:solidFill>
            <a:srgbClr val="0A1628"/>
          </a:solidFill>
          <a:ln w="19050">
            <a:solidFill>
              <a:srgbClr val="00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0" y="2560320"/>
            <a:ext cx="1097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/>
            </a:pPr>
            <a:r>
              <a:t>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2926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C2CB"/>
                </a:solidFill>
              </a:defRPr>
            </a:pPr>
            <a:r>
              <a:t>Contexte</a:t>
            </a:r>
          </a:p>
        </p:txBody>
      </p:sp>
      <p:sp>
        <p:nvSpPr>
          <p:cNvPr id="6" name="Rectangle 5"/>
          <p:cNvSpPr/>
          <p:nvPr/>
        </p:nvSpPr>
        <p:spPr>
          <a:xfrm>
            <a:off x="1645920" y="3840480"/>
            <a:ext cx="1463040" cy="2743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54262" y="4114800"/>
            <a:ext cx="2846357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E8F8F9"/>
                </a:solidFill>
              </a:defRPr>
            </a:pPr>
            <a:r>
              <a:rPr dirty="0"/>
              <a:t>Le </a:t>
            </a:r>
            <a:r>
              <a:rPr dirty="0" err="1"/>
              <a:t>marché</a:t>
            </a:r>
            <a:r>
              <a:rPr dirty="0"/>
              <a:t> du freelance tech</a:t>
            </a:r>
          </a:p>
          <a:p>
            <a:r>
              <a:rPr dirty="0" err="1">
                <a:solidFill>
                  <a:schemeClr val="bg1">
                    <a:lumMod val="95000"/>
                  </a:schemeClr>
                </a:solidFill>
              </a:rPr>
              <a:t>en</a:t>
            </a:r>
            <a:r>
              <a:rPr dirty="0">
                <a:solidFill>
                  <a:schemeClr val="bg1">
                    <a:lumMod val="95000"/>
                  </a:schemeClr>
                </a:solidFill>
              </a:rPr>
              <a:t> Afrique </a:t>
            </a:r>
            <a:r>
              <a:rPr dirty="0" err="1">
                <a:solidFill>
                  <a:schemeClr val="bg1">
                    <a:lumMod val="95000"/>
                  </a:schemeClr>
                </a:solidFill>
              </a:rPr>
              <a:t>est</a:t>
            </a:r>
            <a:r>
              <a:rPr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dirty="0" err="1">
                <a:solidFill>
                  <a:schemeClr val="bg1">
                    <a:lumMod val="95000"/>
                  </a:schemeClr>
                </a:solidFill>
              </a:rPr>
              <a:t>en</a:t>
            </a:r>
            <a:r>
              <a:rPr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dirty="0" err="1">
                <a:solidFill>
                  <a:schemeClr val="bg1">
                    <a:lumMod val="95000"/>
                  </a:schemeClr>
                </a:solidFill>
              </a:rPr>
              <a:t>pleine</a:t>
            </a:r>
            <a:endParaRPr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dirty="0" err="1">
                <a:solidFill>
                  <a:schemeClr val="bg1">
                    <a:lumMod val="95000"/>
                  </a:schemeClr>
                </a:solidFill>
              </a:rPr>
              <a:t>croissance</a:t>
            </a:r>
            <a:r>
              <a:rPr dirty="0">
                <a:solidFill>
                  <a:schemeClr val="bg1">
                    <a:lumMod val="95000"/>
                  </a:schemeClr>
                </a:solidFill>
              </a:rPr>
              <a:t> explosive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286000"/>
            <a:ext cx="3291840" cy="3474720"/>
          </a:xfrm>
          <a:prstGeom prst="roundRect">
            <a:avLst/>
          </a:prstGeom>
          <a:solidFill>
            <a:srgbClr val="0A1628"/>
          </a:solidFill>
          <a:ln w="19050">
            <a:solidFill>
              <a:srgbClr val="00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0" y="2560320"/>
            <a:ext cx="1097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/>
            </a:pPr>
            <a:r>
              <a:t>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291840"/>
            <a:ext cx="2926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C2CB"/>
                </a:solidFill>
              </a:defRPr>
            </a:pPr>
            <a:r>
              <a:t>Objectif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0" y="3840480"/>
            <a:ext cx="1463040" cy="2743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519" y="4114800"/>
            <a:ext cx="1921039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E8F8F9"/>
                </a:solidFill>
              </a:defRPr>
            </a:pPr>
            <a:r>
              <a:rPr dirty="0" err="1"/>
              <a:t>Créer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vitrine</a:t>
            </a:r>
          </a:p>
          <a:p>
            <a:r>
              <a:rPr dirty="0" err="1">
                <a:solidFill>
                  <a:schemeClr val="bg1">
                    <a:lumMod val="95000"/>
                  </a:schemeClr>
                </a:solidFill>
              </a:rPr>
              <a:t>convaincante</a:t>
            </a:r>
            <a:r>
              <a:rPr dirty="0">
                <a:solidFill>
                  <a:schemeClr val="bg1">
                    <a:lumMod val="95000"/>
                  </a:schemeClr>
                </a:solidFill>
              </a:rPr>
              <a:t> pour</a:t>
            </a:r>
          </a:p>
          <a:p>
            <a:r>
              <a:rPr dirty="0" err="1">
                <a:solidFill>
                  <a:schemeClr val="bg1">
                    <a:lumMod val="95000"/>
                  </a:schemeClr>
                </a:solidFill>
              </a:rPr>
              <a:t>AfriTalent</a:t>
            </a:r>
            <a:endParaRPr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046720" y="2286000"/>
            <a:ext cx="3291840" cy="3474720"/>
          </a:xfrm>
          <a:prstGeom prst="roundRect">
            <a:avLst/>
          </a:prstGeom>
          <a:solidFill>
            <a:srgbClr val="0A1628"/>
          </a:solidFill>
          <a:ln w="19050">
            <a:solidFill>
              <a:srgbClr val="00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0" y="2560320"/>
            <a:ext cx="1097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/>
            </a:pPr>
            <a:r>
              <a:t>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291840"/>
            <a:ext cx="2926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C2CB"/>
                </a:solidFill>
              </a:defRPr>
            </a:pPr>
            <a:r>
              <a:t>Public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1120" y="3840480"/>
            <a:ext cx="1463040" cy="2743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79011" y="4114800"/>
            <a:ext cx="2627258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E8F8F9"/>
                </a:solidFill>
              </a:defRPr>
            </a:pPr>
            <a:r>
              <a:rPr dirty="0"/>
              <a:t>Freelances tech </a:t>
            </a:r>
            <a:r>
              <a:rPr dirty="0" err="1"/>
              <a:t>africains</a:t>
            </a:r>
            <a:endParaRPr dirty="0"/>
          </a:p>
          <a:p>
            <a:r>
              <a:rPr dirty="0">
                <a:solidFill>
                  <a:schemeClr val="bg1">
                    <a:lumMod val="95000"/>
                  </a:schemeClr>
                </a:solidFill>
              </a:rPr>
              <a:t>et </a:t>
            </a:r>
            <a:r>
              <a:rPr dirty="0" err="1">
                <a:solidFill>
                  <a:schemeClr val="bg1">
                    <a:lumMod val="95000"/>
                  </a:schemeClr>
                </a:solidFill>
              </a:rPr>
              <a:t>entreprises</a:t>
            </a:r>
            <a:endParaRPr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dirty="0" err="1">
                <a:solidFill>
                  <a:schemeClr val="bg1">
                    <a:lumMod val="95000"/>
                  </a:schemeClr>
                </a:solidFill>
              </a:rPr>
              <a:t>internationales</a:t>
            </a:r>
            <a:endParaRPr dirty="0">
              <a:solidFill>
                <a:schemeClr val="bg1">
                  <a:lumMod val="95000"/>
                </a:schemeClr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D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30854" y="365760"/>
            <a:ext cx="3929987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C2CB"/>
                </a:solidFill>
              </a:defRPr>
            </a:pPr>
            <a:r>
              <a:rPr lang="fr-FR" dirty="0"/>
              <a:t>I</a:t>
            </a:r>
            <a:r>
              <a:rPr dirty="0" err="1"/>
              <a:t>dentité</a:t>
            </a:r>
            <a:r>
              <a:rPr dirty="0"/>
              <a:t> </a:t>
            </a:r>
            <a:r>
              <a:rPr dirty="0" err="1"/>
              <a:t>visuelle</a:t>
            </a:r>
            <a:endParaRPr dirty="0"/>
          </a:p>
        </p:txBody>
      </p:sp>
      <p:sp>
        <p:nvSpPr>
          <p:cNvPr id="3" name="Oval 2"/>
          <p:cNvSpPr/>
          <p:nvPr/>
        </p:nvSpPr>
        <p:spPr>
          <a:xfrm>
            <a:off x="548640" y="2560320"/>
            <a:ext cx="1280160" cy="1280160"/>
          </a:xfrm>
          <a:prstGeom prst="ellipse">
            <a:avLst/>
          </a:prstGeom>
          <a:solidFill>
            <a:srgbClr val="050D18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29506" y="4023360"/>
            <a:ext cx="1518429" cy="53860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rPr dirty="0"/>
              <a:t>#050D18</a:t>
            </a:r>
          </a:p>
          <a:p>
            <a:r>
              <a:rPr dirty="0">
                <a:solidFill>
                  <a:schemeClr val="bg1">
                    <a:lumMod val="95000"/>
                  </a:schemeClr>
                </a:solidFill>
              </a:rPr>
              <a:t>Fond principal</a:t>
            </a:r>
          </a:p>
        </p:txBody>
      </p:sp>
      <p:sp>
        <p:nvSpPr>
          <p:cNvPr id="5" name="Oval 4"/>
          <p:cNvSpPr/>
          <p:nvPr/>
        </p:nvSpPr>
        <p:spPr>
          <a:xfrm>
            <a:off x="2743200" y="2560320"/>
            <a:ext cx="1280160" cy="1280160"/>
          </a:xfrm>
          <a:prstGeom prst="ellipse">
            <a:avLst/>
          </a:prstGeom>
          <a:solidFill>
            <a:srgbClr val="00C2C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431738" y="4023360"/>
            <a:ext cx="1903085" cy="53860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rPr dirty="0"/>
              <a:t>#00C2CB</a:t>
            </a:r>
          </a:p>
          <a:p>
            <a:r>
              <a:rPr dirty="0">
                <a:solidFill>
                  <a:schemeClr val="bg1">
                    <a:lumMod val="95000"/>
                  </a:schemeClr>
                </a:solidFill>
              </a:rPr>
              <a:t>Couleur </a:t>
            </a:r>
            <a:r>
              <a:rPr dirty="0" err="1">
                <a:solidFill>
                  <a:schemeClr val="bg1">
                    <a:lumMod val="95000"/>
                  </a:schemeClr>
                </a:solidFill>
              </a:rPr>
              <a:t>principale</a:t>
            </a:r>
            <a:endParaRPr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7" name="Oval 6"/>
          <p:cNvSpPr/>
          <p:nvPr/>
        </p:nvSpPr>
        <p:spPr>
          <a:xfrm>
            <a:off x="4937759" y="2560320"/>
            <a:ext cx="1280160" cy="12801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805898" y="4023360"/>
            <a:ext cx="1543884" cy="53860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rPr dirty="0"/>
              <a:t>#FFFFFF</a:t>
            </a:r>
          </a:p>
          <a:p>
            <a:r>
              <a:rPr dirty="0">
                <a:solidFill>
                  <a:schemeClr val="bg1">
                    <a:lumMod val="95000"/>
                  </a:schemeClr>
                </a:solidFill>
              </a:rPr>
              <a:t>Texte principal</a:t>
            </a:r>
          </a:p>
        </p:txBody>
      </p:sp>
      <p:sp>
        <p:nvSpPr>
          <p:cNvPr id="9" name="Oval 8"/>
          <p:cNvSpPr/>
          <p:nvPr/>
        </p:nvSpPr>
        <p:spPr>
          <a:xfrm>
            <a:off x="7132319" y="2560320"/>
            <a:ext cx="1280160" cy="1280160"/>
          </a:xfrm>
          <a:prstGeom prst="ellipse">
            <a:avLst/>
          </a:prstGeom>
          <a:solidFill>
            <a:srgbClr val="8899A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95524" y="4023360"/>
            <a:ext cx="1753750" cy="53860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rPr dirty="0"/>
              <a:t>#8899AA</a:t>
            </a:r>
          </a:p>
          <a:p>
            <a:r>
              <a:rPr dirty="0">
                <a:solidFill>
                  <a:schemeClr val="bg1">
                    <a:lumMod val="95000"/>
                  </a:schemeClr>
                </a:solidFill>
              </a:rPr>
              <a:t>Texte </a:t>
            </a:r>
            <a:r>
              <a:rPr dirty="0" err="1">
                <a:solidFill>
                  <a:schemeClr val="bg1">
                    <a:lumMod val="95000"/>
                  </a:schemeClr>
                </a:solidFill>
              </a:rPr>
              <a:t>secondaire</a:t>
            </a:r>
            <a:endParaRPr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1" name="Oval 10"/>
          <p:cNvSpPr/>
          <p:nvPr/>
        </p:nvSpPr>
        <p:spPr>
          <a:xfrm>
            <a:off x="9326880" y="2560320"/>
            <a:ext cx="1280160" cy="1280160"/>
          </a:xfrm>
          <a:prstGeom prst="ellipse">
            <a:avLst/>
          </a:prstGeom>
          <a:solidFill>
            <a:srgbClr val="0A1628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330984" y="4023360"/>
            <a:ext cx="1271951" cy="53860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rPr dirty="0"/>
              <a:t>#0A1628</a:t>
            </a:r>
          </a:p>
          <a:p>
            <a:r>
              <a:rPr dirty="0">
                <a:solidFill>
                  <a:schemeClr val="bg1">
                    <a:lumMod val="95000"/>
                  </a:schemeClr>
                </a:solidFill>
              </a:rPr>
              <a:t>Fond </a:t>
            </a:r>
            <a:r>
              <a:rPr dirty="0" err="1">
                <a:solidFill>
                  <a:schemeClr val="bg1">
                    <a:lumMod val="95000"/>
                  </a:schemeClr>
                </a:solidFill>
              </a:rPr>
              <a:t>cartes</a:t>
            </a:r>
            <a:endParaRPr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7200" y="530352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E8F8F9"/>
                </a:solidFill>
              </a:defRPr>
            </a:pPr>
            <a:r>
              <a:t>📝 Polices : Georgia (titres)  •  Inter (corps)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D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C2CB"/>
                </a:solidFill>
              </a:defRPr>
            </a:pPr>
            <a:r>
              <a:t>Architecture du site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377440"/>
            <a:ext cx="2011680" cy="2926080"/>
          </a:xfrm>
          <a:prstGeom prst="roundRect">
            <a:avLst/>
          </a:prstGeom>
          <a:solidFill>
            <a:srgbClr val="0A1628"/>
          </a:solidFill>
          <a:ln w="12700">
            <a:solidFill>
              <a:srgbClr val="00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2560320"/>
            <a:ext cx="1280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29184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C2CB"/>
                </a:solidFill>
              </a:defRPr>
            </a:pPr>
            <a:r>
              <a:t>Accueil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19" y="3840480"/>
            <a:ext cx="914400" cy="2743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91794" y="4114800"/>
            <a:ext cx="250825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E8F8F9"/>
                </a:solidFill>
              </a:defRPr>
            </a:pPr>
            <a:r>
              <a:rPr dirty="0"/>
              <a:t>Hero, </a:t>
            </a:r>
            <a:r>
              <a:rPr dirty="0" err="1"/>
              <a:t>statistiques</a:t>
            </a:r>
            <a:r>
              <a:rPr dirty="0"/>
              <a:t>,</a:t>
            </a:r>
          </a:p>
          <a:p>
            <a:r>
              <a:rPr dirty="0">
                <a:solidFill>
                  <a:schemeClr val="bg1">
                    <a:lumMod val="95000"/>
                  </a:schemeClr>
                </a:solidFill>
              </a:rPr>
              <a:t>Bento Grid, </a:t>
            </a:r>
            <a:r>
              <a:rPr dirty="0" err="1">
                <a:solidFill>
                  <a:schemeClr val="bg1">
                    <a:lumMod val="95000"/>
                  </a:schemeClr>
                </a:solidFill>
              </a:rPr>
              <a:t>témoignages</a:t>
            </a:r>
            <a:endParaRPr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834639" y="2377440"/>
            <a:ext cx="2011680" cy="2926080"/>
          </a:xfrm>
          <a:prstGeom prst="roundRect">
            <a:avLst/>
          </a:prstGeom>
          <a:solidFill>
            <a:srgbClr val="0A1628"/>
          </a:solidFill>
          <a:ln w="12700">
            <a:solidFill>
              <a:srgbClr val="00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00399" y="2560320"/>
            <a:ext cx="1280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👨‍💻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79" y="329184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C2CB"/>
                </a:solidFill>
              </a:defRPr>
            </a:pPr>
            <a:r>
              <a:t>Freelances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79" y="3840480"/>
            <a:ext cx="914400" cy="2743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23909" y="4114800"/>
            <a:ext cx="1633139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E8F8F9"/>
                </a:solidFill>
              </a:defRPr>
            </a:pPr>
            <a:r>
              <a:rPr dirty="0" err="1"/>
              <a:t>Filtrage</a:t>
            </a:r>
            <a:r>
              <a:rPr dirty="0"/>
              <a:t> </a:t>
            </a:r>
            <a:r>
              <a:rPr dirty="0" err="1"/>
              <a:t>dynamique</a:t>
            </a:r>
            <a:r>
              <a:rPr dirty="0"/>
              <a:t>,</a:t>
            </a:r>
          </a:p>
          <a:p>
            <a:r>
              <a:rPr dirty="0">
                <a:solidFill>
                  <a:schemeClr val="bg1">
                    <a:lumMod val="95000"/>
                  </a:schemeClr>
                </a:solidFill>
              </a:rPr>
              <a:t>grille de </a:t>
            </a:r>
            <a:r>
              <a:rPr dirty="0" err="1">
                <a:solidFill>
                  <a:schemeClr val="bg1">
                    <a:lumMod val="95000"/>
                  </a:schemeClr>
                </a:solidFill>
              </a:rPr>
              <a:t>profils</a:t>
            </a:r>
            <a:endParaRPr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029200" y="2377440"/>
            <a:ext cx="2011680" cy="2926080"/>
          </a:xfrm>
          <a:prstGeom prst="roundRect">
            <a:avLst/>
          </a:prstGeom>
          <a:solidFill>
            <a:srgbClr val="0A1628"/>
          </a:solidFill>
          <a:ln w="12700">
            <a:solidFill>
              <a:srgbClr val="00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94960" y="2560320"/>
            <a:ext cx="1280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29184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C2CB"/>
                </a:solidFill>
              </a:defRPr>
            </a:pPr>
            <a:r>
              <a:t>Tarifs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77840" y="3840480"/>
            <a:ext cx="914400" cy="2743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34852" y="4114800"/>
            <a:ext cx="160037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E8F8F9"/>
                </a:solidFill>
              </a:defRPr>
            </a:pPr>
            <a:r>
              <a:rPr dirty="0"/>
              <a:t>3 plans </a:t>
            </a:r>
            <a:r>
              <a:rPr dirty="0" err="1"/>
              <a:t>tarifaires</a:t>
            </a:r>
            <a:r>
              <a:rPr dirty="0"/>
              <a:t>,</a:t>
            </a:r>
          </a:p>
          <a:p>
            <a:r>
              <a:rPr dirty="0">
                <a:solidFill>
                  <a:schemeClr val="bg1">
                    <a:lumMod val="95000"/>
                  </a:schemeClr>
                </a:solidFill>
              </a:rPr>
              <a:t>FAQ </a:t>
            </a:r>
            <a:r>
              <a:rPr dirty="0" err="1">
                <a:solidFill>
                  <a:schemeClr val="bg1">
                    <a:lumMod val="95000"/>
                  </a:schemeClr>
                </a:solidFill>
              </a:rPr>
              <a:t>accordéon</a:t>
            </a:r>
            <a:endParaRPr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7223759" y="2377440"/>
            <a:ext cx="2011680" cy="2926080"/>
          </a:xfrm>
          <a:prstGeom prst="roundRect">
            <a:avLst/>
          </a:prstGeom>
          <a:solidFill>
            <a:srgbClr val="0A1628"/>
          </a:solidFill>
          <a:ln w="12700">
            <a:solidFill>
              <a:srgbClr val="00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589519" y="2560320"/>
            <a:ext cx="1280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199" y="329184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C2CB"/>
                </a:solidFill>
              </a:defRPr>
            </a:pPr>
            <a:r>
              <a:t>À propos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0" y="3840480"/>
            <a:ext cx="914400" cy="2743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01391" y="4114800"/>
            <a:ext cx="165641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E8F8F9"/>
                </a:solidFill>
              </a:defRPr>
            </a:pPr>
            <a:r>
              <a:rPr dirty="0"/>
              <a:t>Histoire, équipe,</a:t>
            </a:r>
          </a:p>
          <a:p>
            <a:r>
              <a:rPr dirty="0" err="1">
                <a:solidFill>
                  <a:schemeClr val="bg1">
                    <a:lumMod val="95000"/>
                  </a:schemeClr>
                </a:solidFill>
              </a:rPr>
              <a:t>valeurs</a:t>
            </a:r>
            <a:r>
              <a:rPr dirty="0">
                <a:solidFill>
                  <a:schemeClr val="bg1">
                    <a:lumMod val="95000"/>
                  </a:schemeClr>
                </a:solidFill>
              </a:rPr>
              <a:t>, chiffres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18319" y="2377440"/>
            <a:ext cx="2011680" cy="2926080"/>
          </a:xfrm>
          <a:prstGeom prst="roundRect">
            <a:avLst/>
          </a:prstGeom>
          <a:solidFill>
            <a:srgbClr val="0A1628"/>
          </a:solidFill>
          <a:ln w="12700">
            <a:solidFill>
              <a:srgbClr val="00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84080" y="2560320"/>
            <a:ext cx="1280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59" y="329184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C2CB"/>
                </a:solidFill>
              </a:defRPr>
            </a:pPr>
            <a:r>
              <a:t>Contact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66959" y="3840480"/>
            <a:ext cx="914400" cy="2743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426066" y="4114800"/>
            <a:ext cx="1996187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E8F8F9"/>
                </a:solidFill>
              </a:defRPr>
            </a:pPr>
            <a:r>
              <a:rPr dirty="0" err="1"/>
              <a:t>Formulaire</a:t>
            </a:r>
            <a:r>
              <a:rPr dirty="0"/>
              <a:t> </a:t>
            </a:r>
            <a:r>
              <a:rPr dirty="0" err="1"/>
              <a:t>validé</a:t>
            </a:r>
            <a:r>
              <a:rPr dirty="0"/>
              <a:t>,</a:t>
            </a:r>
          </a:p>
          <a:p>
            <a:r>
              <a:rPr dirty="0" err="1">
                <a:solidFill>
                  <a:schemeClr val="bg1">
                    <a:lumMod val="95000"/>
                  </a:schemeClr>
                </a:solidFill>
              </a:rPr>
              <a:t>coordonnées</a:t>
            </a:r>
            <a:r>
              <a:rPr dirty="0">
                <a:solidFill>
                  <a:schemeClr val="bg1">
                    <a:lumMod val="95000"/>
                  </a:schemeClr>
                </a:solidFill>
              </a:rPr>
              <a:t>, carte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D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C2CB"/>
                </a:solidFill>
              </a:defRPr>
            </a:pPr>
            <a:r>
              <a:t>Technologies &amp; CSS avancé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377440"/>
            <a:ext cx="3474720" cy="3200400"/>
          </a:xfrm>
          <a:prstGeom prst="roundRect">
            <a:avLst/>
          </a:prstGeom>
          <a:solidFill>
            <a:srgbClr val="0A1628"/>
          </a:solidFill>
          <a:ln w="19050">
            <a:solidFill>
              <a:srgbClr val="00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3108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C2CB"/>
                </a:solidFill>
              </a:defRPr>
            </a:pPr>
            <a:r>
              <a:t>🎨 Frontend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0" y="3383280"/>
            <a:ext cx="1645920" cy="2743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70681" y="3657600"/>
            <a:ext cx="2996398" cy="9079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>
                <a:solidFill>
                  <a:srgbClr val="E8F8F9"/>
                </a:solidFill>
              </a:defRPr>
            </a:pPr>
            <a:r>
              <a:rPr dirty="0"/>
              <a:t>HTML5 - Structure </a:t>
            </a:r>
            <a:r>
              <a:rPr dirty="0" err="1"/>
              <a:t>sémantique</a:t>
            </a:r>
            <a:endParaRPr dirty="0"/>
          </a:p>
          <a:p>
            <a:r>
              <a:rPr dirty="0">
                <a:solidFill>
                  <a:schemeClr val="bg1">
                    <a:lumMod val="95000"/>
                  </a:schemeClr>
                </a:solidFill>
              </a:rPr>
              <a:t>CSS3 - Variables, Flexbox, Grid</a:t>
            </a:r>
          </a:p>
          <a:p>
            <a:r>
              <a:rPr dirty="0">
                <a:solidFill>
                  <a:schemeClr val="bg1">
                    <a:lumMod val="95000"/>
                  </a:schemeClr>
                </a:solidFill>
              </a:rPr>
              <a:t>Bootstrap 5 - </a:t>
            </a:r>
            <a:r>
              <a:rPr dirty="0" err="1">
                <a:solidFill>
                  <a:schemeClr val="bg1">
                    <a:lumMod val="95000"/>
                  </a:schemeClr>
                </a:solidFill>
              </a:rPr>
              <a:t>Composants</a:t>
            </a:r>
            <a:endParaRPr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389120" y="2377440"/>
            <a:ext cx="3474720" cy="3200400"/>
          </a:xfrm>
          <a:prstGeom prst="roundRect">
            <a:avLst/>
          </a:prstGeom>
          <a:solidFill>
            <a:srgbClr val="0A1628"/>
          </a:solidFill>
          <a:ln w="19050">
            <a:solidFill>
              <a:srgbClr val="00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0" y="2651760"/>
            <a:ext cx="3108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C2CB"/>
                </a:solidFill>
              </a:defRPr>
            </a:pPr>
            <a:r>
              <a:t>⚡ Interactivité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3383280"/>
            <a:ext cx="1645920" cy="2743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45222" y="3657600"/>
            <a:ext cx="2162515" cy="9079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>
                <a:solidFill>
                  <a:srgbClr val="E8F8F9"/>
                </a:solidFill>
              </a:defRPr>
            </a:pPr>
            <a:r>
              <a:rPr dirty="0"/>
              <a:t>JavaScript Vanilla</a:t>
            </a:r>
          </a:p>
          <a:p>
            <a:r>
              <a:rPr dirty="0">
                <a:solidFill>
                  <a:schemeClr val="bg1">
                    <a:lumMod val="95000"/>
                  </a:schemeClr>
                </a:solidFill>
              </a:rPr>
              <a:t>DOM, </a:t>
            </a:r>
            <a:r>
              <a:rPr dirty="0" err="1">
                <a:solidFill>
                  <a:schemeClr val="bg1">
                    <a:lumMod val="95000"/>
                  </a:schemeClr>
                </a:solidFill>
              </a:rPr>
              <a:t>événements</a:t>
            </a:r>
            <a:endParaRPr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dirty="0" err="1">
                <a:solidFill>
                  <a:schemeClr val="bg1">
                    <a:lumMod val="95000"/>
                  </a:schemeClr>
                </a:solidFill>
              </a:rPr>
              <a:t>IntersectionObserver</a:t>
            </a:r>
            <a:endParaRPr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046720" y="2377440"/>
            <a:ext cx="3474720" cy="3200400"/>
          </a:xfrm>
          <a:prstGeom prst="roundRect">
            <a:avLst/>
          </a:prstGeom>
          <a:solidFill>
            <a:srgbClr val="0A1628"/>
          </a:solidFill>
          <a:ln w="19050">
            <a:solidFill>
              <a:srgbClr val="00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0" y="2651760"/>
            <a:ext cx="3108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C2CB"/>
                </a:solidFill>
              </a:defRPr>
            </a:pPr>
            <a:r>
              <a:t>🔧 Outils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61120" y="3383280"/>
            <a:ext cx="1645920" cy="27432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14707" y="3657600"/>
            <a:ext cx="1738746" cy="9079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>
                <a:solidFill>
                  <a:srgbClr val="E8F8F9"/>
                </a:solidFill>
              </a:defRPr>
            </a:pPr>
            <a:r>
              <a:rPr dirty="0"/>
              <a:t>Git &amp; GitHub</a:t>
            </a:r>
          </a:p>
          <a:p>
            <a:r>
              <a:rPr dirty="0">
                <a:solidFill>
                  <a:schemeClr val="bg1">
                    <a:lumMod val="95000"/>
                  </a:schemeClr>
                </a:solidFill>
              </a:rPr>
              <a:t>Versioning</a:t>
            </a:r>
          </a:p>
          <a:p>
            <a:r>
              <a:rPr dirty="0">
                <a:solidFill>
                  <a:schemeClr val="bg1">
                    <a:lumMod val="95000"/>
                  </a:schemeClr>
                </a:solidFill>
              </a:rPr>
              <a:t>GitHub Pages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D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C2CB"/>
                </a:solidFill>
              </a:defRPr>
            </a:pPr>
            <a:r>
              <a:t>JavaScript - 8 fonctionnalités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94560"/>
            <a:ext cx="10698480" cy="3840480"/>
          </a:xfrm>
          <a:prstGeom prst="roundRect">
            <a:avLst/>
          </a:prstGeom>
          <a:solidFill>
            <a:srgbClr val="0A1628"/>
          </a:solidFill>
          <a:ln w="12700">
            <a:solidFill>
              <a:srgbClr val="00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265176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C2CB"/>
                </a:solidFill>
              </a:defRPr>
            </a:pPr>
            <a:r>
              <a:t>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606040"/>
            <a:ext cx="3840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F8F9"/>
                </a:solidFill>
              </a:defRPr>
            </a:pPr>
            <a:r>
              <a:t>1. Mode clair/sombre avec localStorage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91839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C2CB"/>
                </a:solidFill>
              </a:defRPr>
            </a:pPr>
            <a:r>
              <a:t>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246120"/>
            <a:ext cx="3840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F8F9"/>
                </a:solidFill>
              </a:defRPr>
            </a:pPr>
            <a:r>
              <a:t>2. Compteurs animés au scroll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93192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C2CB"/>
                </a:solidFill>
              </a:defRPr>
            </a:pPr>
            <a:r>
              <a:t>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886200"/>
            <a:ext cx="3840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F8F9"/>
                </a:solidFill>
              </a:defRPr>
            </a:pPr>
            <a:r>
              <a:t>3. Filtrage dynamique des freelances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57200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C2CB"/>
                </a:solidFill>
              </a:defRPr>
            </a:pPr>
            <a: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9349" y="4526280"/>
            <a:ext cx="3840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F8F9"/>
                </a:solidFill>
              </a:defRPr>
            </a:pPr>
            <a:r>
              <a:rPr dirty="0"/>
              <a:t>4. Validation de </a:t>
            </a:r>
            <a:r>
              <a:rPr dirty="0" err="1"/>
              <a:t>formulaire</a:t>
            </a:r>
            <a:r>
              <a:rPr dirty="0"/>
              <a:t> (email, 20 </a:t>
            </a:r>
            <a:r>
              <a:rPr dirty="0" err="1"/>
              <a:t>caractères</a:t>
            </a:r>
            <a:r>
              <a:rPr dirty="0"/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676" y="265176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C2CB"/>
                </a:solidFill>
              </a:defRPr>
            </a:pPr>
            <a:r>
              <a:rPr dirty="0"/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7209" y="2606040"/>
            <a:ext cx="3840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F8F9"/>
                </a:solidFill>
              </a:defRPr>
            </a:pPr>
            <a:r>
              <a:rPr dirty="0"/>
              <a:t>5. Navbar </a:t>
            </a:r>
            <a:r>
              <a:rPr dirty="0" err="1"/>
              <a:t>dynamique</a:t>
            </a:r>
            <a:r>
              <a:rPr dirty="0"/>
              <a:t> au scroll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0613" y="3291839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C2CB"/>
                </a:solidFill>
              </a:defRPr>
            </a:pPr>
            <a:r>
              <a:rPr dirty="0"/>
              <a:t>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26966" y="3246120"/>
            <a:ext cx="3840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F8F9"/>
                </a:solidFill>
              </a:defRPr>
            </a:pPr>
            <a:r>
              <a:t>6. Bouton retour en haut (smooth scroll)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0493" y="393192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C2CB"/>
                </a:solidFill>
              </a:defRPr>
            </a:pPr>
            <a:r>
              <a:rPr dirty="0"/>
              <a:t>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7206" y="3886200"/>
            <a:ext cx="3840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F8F9"/>
                </a:solidFill>
              </a:defRPr>
            </a:pPr>
            <a:r>
              <a:rPr dirty="0"/>
              <a:t>7. Animations fade-in au scroll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457200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C2CB"/>
                </a:solidFill>
              </a:defRPr>
            </a:pPr>
            <a:r>
              <a:t>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6960" y="4434840"/>
            <a:ext cx="36940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8F8F9"/>
                </a:solidFill>
              </a:defRPr>
            </a:pPr>
            <a:r>
              <a:rPr dirty="0"/>
              <a:t>8. </a:t>
            </a:r>
            <a:r>
              <a:rPr dirty="0" err="1"/>
              <a:t>Année</a:t>
            </a:r>
            <a:r>
              <a:rPr dirty="0"/>
              <a:t> </a:t>
            </a:r>
            <a:r>
              <a:rPr dirty="0" err="1"/>
              <a:t>dynamique</a:t>
            </a:r>
            <a:r>
              <a:rPr dirty="0"/>
              <a:t> dans le footer</a:t>
            </a:r>
          </a:p>
        </p:txBody>
      </p:sp>
      <p:sp>
        <p:nvSpPr>
          <p:cNvPr id="20" name="TextBox 9">
            <a:extLst>
              <a:ext uri="{FF2B5EF4-FFF2-40B4-BE49-F238E27FC236}">
                <a16:creationId xmlns:a16="http://schemas.microsoft.com/office/drawing/2014/main" id="{4D576FA6-64D6-0052-28D2-1E8872E59801}"/>
              </a:ext>
            </a:extLst>
          </p:cNvPr>
          <p:cNvSpPr txBox="1"/>
          <p:nvPr/>
        </p:nvSpPr>
        <p:spPr>
          <a:xfrm flipH="1">
            <a:off x="6571081" y="4525620"/>
            <a:ext cx="187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00C2CB"/>
                </a:solidFill>
              </a:defRPr>
            </a:pPr>
            <a:r>
              <a:t>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D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C2CB"/>
                </a:solidFill>
              </a:defRPr>
            </a:pPr>
            <a:r>
              <a:t>GitHub &amp; versioning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2377440"/>
            <a:ext cx="2926080" cy="2560320"/>
          </a:xfrm>
          <a:prstGeom prst="roundRect">
            <a:avLst/>
          </a:prstGeom>
          <a:solidFill>
            <a:srgbClr val="0A1628"/>
          </a:solidFill>
          <a:ln w="19050">
            <a:solidFill>
              <a:srgbClr val="00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2651760"/>
            <a:ext cx="29260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C2CB"/>
                </a:solidFill>
              </a:defRPr>
            </a:pPr>
            <a:r>
              <a:t>📦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84048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E8F8F9"/>
                </a:solidFill>
              </a:defRPr>
            </a:pPr>
            <a:r>
              <a:t>Commits</a:t>
            </a:r>
          </a:p>
          <a:p>
            <a:r>
              <a:t>réguliers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2377440"/>
            <a:ext cx="2926080" cy="2560320"/>
          </a:xfrm>
          <a:prstGeom prst="roundRect">
            <a:avLst/>
          </a:prstGeom>
          <a:solidFill>
            <a:srgbClr val="0A1628"/>
          </a:solidFill>
          <a:ln w="19050">
            <a:solidFill>
              <a:srgbClr val="00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0" y="2651760"/>
            <a:ext cx="29260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C2CB"/>
                </a:solidFill>
              </a:defRPr>
            </a:pPr>
            <a:r>
              <a:t>🌐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384048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E8F8F9"/>
                </a:solidFill>
              </a:defRPr>
            </a:pPr>
            <a:r>
              <a:t>Dépôt</a:t>
            </a:r>
          </a:p>
          <a:p>
            <a:r>
              <a:t>GitHub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0" y="2377440"/>
            <a:ext cx="2926080" cy="2560320"/>
          </a:xfrm>
          <a:prstGeom prst="roundRect">
            <a:avLst/>
          </a:prstGeom>
          <a:solidFill>
            <a:srgbClr val="0A1628"/>
          </a:solidFill>
          <a:ln w="19050">
            <a:solidFill>
              <a:srgbClr val="00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0" y="2651760"/>
            <a:ext cx="29260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C2CB"/>
                </a:solidFill>
              </a:defRPr>
            </a:pPr>
            <a:r>
              <a:t>🚀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84048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E8F8F9"/>
                </a:solidFill>
              </a:defRPr>
            </a:pPr>
            <a:r>
              <a:t>Site</a:t>
            </a:r>
          </a:p>
          <a:p>
            <a:r>
              <a:t>déployé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6928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00C2CB"/>
                </a:solidFill>
              </a:defRPr>
            </a:pPr>
            <a:r>
              <a:t>🔗 https://bebeeesy.github.io/AWA-SY-AfriTalent/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D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C2CB"/>
                </a:solidFill>
              </a:defRPr>
            </a:pPr>
            <a:r>
              <a:t>Difficultés &amp; solutions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286000"/>
            <a:ext cx="1097280" cy="457200"/>
          </a:xfrm>
          <a:prstGeom prst="roundRect">
            <a:avLst/>
          </a:prstGeom>
          <a:solidFill>
            <a:srgbClr val="C8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Problème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236904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9696"/>
                </a:solidFill>
              </a:defRPr>
            </a:pPr>
            <a:r>
              <a:rPr dirty="0"/>
              <a:t>Styles inline </a:t>
            </a:r>
            <a:r>
              <a:rPr dirty="0" err="1"/>
              <a:t>bloquaient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6400800" y="2286000"/>
            <a:ext cx="1097280" cy="457200"/>
          </a:xfrm>
          <a:prstGeom prst="roundRect">
            <a:avLst/>
          </a:prstGeom>
          <a:solidFill>
            <a:srgbClr val="0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23317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50D18"/>
                </a:solidFill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2331720"/>
            <a:ext cx="262988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C2CB"/>
                </a:solidFill>
              </a:defRPr>
            </a:pPr>
            <a:r>
              <a:rPr dirty="0" err="1"/>
              <a:t>Supprimer</a:t>
            </a:r>
            <a:r>
              <a:rPr dirty="0"/>
              <a:t> les styles inline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474720"/>
            <a:ext cx="1097280" cy="457200"/>
          </a:xfrm>
          <a:prstGeom prst="roundRect">
            <a:avLst/>
          </a:prstGeom>
          <a:solidFill>
            <a:srgbClr val="C8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5204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Problème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3520440"/>
            <a:ext cx="166924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9696"/>
                </a:solidFill>
              </a:defRPr>
            </a:pPr>
            <a:r>
              <a:rPr dirty="0"/>
              <a:t> </a:t>
            </a:r>
            <a:r>
              <a:rPr dirty="0" err="1"/>
              <a:t>Erreur</a:t>
            </a:r>
            <a:r>
              <a:rPr dirty="0"/>
              <a:t> h1 → h3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474720"/>
            <a:ext cx="1097280" cy="457200"/>
          </a:xfrm>
          <a:prstGeom prst="roundRect">
            <a:avLst/>
          </a:prstGeom>
          <a:solidFill>
            <a:srgbClr val="0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35204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50D18"/>
                </a:solidFill>
              </a:defRPr>
            </a:pPr>
            <a:r>
              <a:t>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3520440"/>
            <a:ext cx="285283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C2CB"/>
                </a:solidFill>
              </a:defRPr>
            </a:pPr>
            <a:r>
              <a:rPr dirty="0"/>
              <a:t> </a:t>
            </a:r>
            <a:r>
              <a:rPr dirty="0" err="1"/>
              <a:t>Remplacer</a:t>
            </a:r>
            <a:r>
              <a:rPr dirty="0"/>
              <a:t> &lt;h3&gt; par &lt;span&gt;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663440"/>
            <a:ext cx="1097280" cy="457200"/>
          </a:xfrm>
          <a:prstGeom prst="roundRect">
            <a:avLst/>
          </a:prstGeom>
          <a:solidFill>
            <a:srgbClr val="C8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47091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Problème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709160"/>
            <a:ext cx="307449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9696"/>
                </a:solidFill>
              </a:defRPr>
            </a:pPr>
            <a:r>
              <a:rPr dirty="0"/>
              <a:t> </a:t>
            </a:r>
            <a:r>
              <a:rPr dirty="0" err="1"/>
              <a:t>Icônes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blanc</a:t>
            </a:r>
            <a:r>
              <a:rPr dirty="0"/>
              <a:t> sur fond </a:t>
            </a:r>
            <a:r>
              <a:rPr dirty="0" err="1"/>
              <a:t>blanc</a:t>
            </a:r>
            <a:endParaRPr dirty="0"/>
          </a:p>
        </p:txBody>
      </p:sp>
      <p:sp>
        <p:nvSpPr>
          <p:cNvPr id="18" name="Rounded Rectangle 17"/>
          <p:cNvSpPr/>
          <p:nvPr/>
        </p:nvSpPr>
        <p:spPr>
          <a:xfrm>
            <a:off x="6400800" y="4663440"/>
            <a:ext cx="1097280" cy="457200"/>
          </a:xfrm>
          <a:prstGeom prst="roundRect">
            <a:avLst/>
          </a:prstGeom>
          <a:solidFill>
            <a:srgbClr val="0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47091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50D18"/>
                </a:solidFill>
              </a:defRPr>
            </a:pPr>
            <a:r>
              <a:t>Solution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09160"/>
            <a:ext cx="261206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C2CB"/>
                </a:solidFill>
              </a:defRPr>
            </a:pPr>
            <a:r>
              <a:rPr dirty="0"/>
              <a:t> </a:t>
            </a:r>
            <a:r>
              <a:rPr dirty="0" err="1"/>
              <a:t>Ajouter</a:t>
            </a:r>
            <a:r>
              <a:rPr dirty="0"/>
              <a:t> la </a:t>
            </a:r>
            <a:r>
              <a:rPr dirty="0" err="1"/>
              <a:t>classe</a:t>
            </a:r>
            <a:r>
              <a:rPr dirty="0"/>
              <a:t> text-info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D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C2CB"/>
                </a:solidFill>
              </a:defRPr>
            </a:pPr>
            <a:r>
              <a:t>Bilan &amp; perspectives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0"/>
            <a:ext cx="11277295" cy="3200400"/>
          </a:xfrm>
          <a:prstGeom prst="roundRect">
            <a:avLst/>
          </a:prstGeom>
          <a:solidFill>
            <a:srgbClr val="0A1628"/>
          </a:solidFill>
          <a:ln w="12700">
            <a:solidFill>
              <a:srgbClr val="00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8899AA"/>
                </a:solidFill>
              </a:defRPr>
            </a:pPr>
            <a:r>
              <a:t>📸 Page d'accueil - Mode clair / Mode sombre</a:t>
            </a:r>
          </a:p>
        </p:txBody>
      </p:sp>
      <p:pic>
        <p:nvPicPr>
          <p:cNvPr id="5" name="Picture 4" descr="screenshot-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60320"/>
            <a:ext cx="5029200" cy="2369225"/>
          </a:xfrm>
          <a:prstGeom prst="rect">
            <a:avLst/>
          </a:prstGeom>
        </p:spPr>
      </p:pic>
      <p:pic>
        <p:nvPicPr>
          <p:cNvPr id="6" name="Picture 5" descr="screenshot-somb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560320"/>
            <a:ext cx="5029200" cy="24085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03504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0C2CB"/>
                </a:solidFill>
              </a:defRPr>
            </a:pPr>
            <a:r>
              <a:t>✨ Merci pour votre attention ! ✨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6766560"/>
            <a:ext cx="4876495" cy="36576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371</Words>
  <Application>Microsoft Office PowerPoint</Application>
  <PresentationFormat>Grand écran</PresentationFormat>
  <Paragraphs>126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Inspiredu</cp:lastModifiedBy>
  <cp:revision>3</cp:revision>
  <dcterms:created xsi:type="dcterms:W3CDTF">2013-01-27T09:14:16Z</dcterms:created>
  <dcterms:modified xsi:type="dcterms:W3CDTF">2026-07-02T22:34:32Z</dcterms:modified>
  <cp:category/>
</cp:coreProperties>
</file>